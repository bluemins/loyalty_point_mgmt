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52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how your customers earn and redeem points, the admin panel you'll use every day, how the points maths works, and the tricky cases. We finish with a live demo on a phone and the admin panel,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QR code is the same everywhere, so the server does the anti-abuse work: waiting time between scans and a daily limit. A customer's account is their phone number, for your brand only. The same number with another brand is a separate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right. After a scan without logging in, points show as pending and are saved on that phone for 30 days. My points: the ring shows the balance and how far to the next reward, points expiring in the next 7 days, and all activity. Rewards: cost in points, or how many more are needed. Voucher: a code like K7MQ-3XRD-9P that the customer shows at your counter, valid 30 days. Colours, name and logo are yours, set in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pending points (scanned before verifying) wait 30 days, and customers are warned 7 days before points expire. Each batch of points has its own expiry, 60 days from the day it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scanned recently, the message says how long is left. Right: daily limit, resets at midnight India time. The daily limit counts across all of a customer's phones once they verify; the 10-minute wait is per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https://[your domain]/admin on a computer or phone. You only ever see your own brand. Sign-in: 5 wrong passwords in 15 minutes locks the account for the rest of those 15 minutes. A session lasts 12 hours. SMS settings are managed by the platform owner and are read-only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uses: a goodwill gesture, correcting a mistake, or moving points when a customer gets a new phone number: remove from the old account, add to the new one, same reason on both. Customers see adjustments in their activity as "Adjustment".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Issued vouchers can be fulfilled or cancelled. Check the code matches before fulfilling. Fulfilled by mistake? It cannot be reversed: if the customer did not get the reward, give the points back with an adjustment and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ledger is the full history: scan (+), redeem (−), refund (+), adjust (+ or −), expire (−). Lines are never edited or deleted. A batch stops counting at its exact expiry time; every night at 00:30 India time a job writes the matching "expire" line. It is safe to run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3 March the 1 Jan batch passes its expiry, but it was fully spent, so nothing expires. On 7 March the 5 Jan batch expires with 5 left, so the nightly job writes expire −5. If you cancel the 1 Feb voucher on 10 Feb, the 15 points come back as one new batch with a fresh 60-day expiry, not their original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fields you change are saved and logged. Shortening "pending points kept" can make older pending scans unclaimable. Removing a category does not change existing customers. OTP limits and SMS sender settings are platform-owner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start from the customer's ledger in Users. Pending points stay on the phone that scanned: the customer must verify on that same phone to claim them. Each brand's accounts are separate, so a number registered with another brand is a different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Rewards cannot be deleted because vouchers refer to them: untick Active to hide one. Stock goes down 1 per redemption and up 1 per cancel; at 0 the app shows Out of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owner contact: [name, phone, email]. There is no password-reset screen yet, so the platform owner sets a new password for you. All dates in the panel are India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docs/DEMO_SCRIPT.md. Demo runs on the test setup, where the SMS code is always 000000; say this clearly so nobody expects real SMS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975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A2412"/>
              </a:gs>
              <a:gs pos="100000">
                <a:srgbClr val="6B3A1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90373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150" dirty="0">
                <a:solidFill>
                  <a:srgbClr val="E9B27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PLYWOOD · LOYALTY PROGRAMME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424430"/>
            <a:ext cx="91567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FBF3E6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Running your loyalty programme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4243070"/>
            <a:ext cx="85026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9D2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walkthrough for brand admins: what your customers see, your admin panel, and how points are counted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623824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9D2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Rocky -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41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 YOUR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43256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Four steps, no app to install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09495"/>
            <a:ext cx="2482850" cy="2655570"/>
          </a:xfrm>
          <a:prstGeom prst="roundRect">
            <a:avLst>
              <a:gd name="adj" fmla="val 6010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56540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8742B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880" y="3307080"/>
            <a:ext cx="203017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3713480"/>
            <a:ext cx="203017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QR code on the product or at the shop opens a web page.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8375" y="2309495"/>
            <a:ext cx="2482850" cy="2655570"/>
          </a:xfrm>
          <a:prstGeom prst="roundRect">
            <a:avLst>
              <a:gd name="adj" fmla="val 6010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4280" y="256540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8742B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64280" y="3307080"/>
            <a:ext cx="203017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Verify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64280" y="3713480"/>
            <a:ext cx="203017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Once per phone: a 6-digit SMS code, then name and trade.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0775" y="2309495"/>
            <a:ext cx="2482850" cy="2655570"/>
          </a:xfrm>
          <a:prstGeom prst="roundRect">
            <a:avLst>
              <a:gd name="adj" fmla="val 6010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680" y="256540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8742B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56680" y="3307080"/>
            <a:ext cx="203017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Earn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6680" y="3713480"/>
            <a:ext cx="203017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 points per scan. Scans before verifying wait as "pending".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93175" y="2309495"/>
            <a:ext cx="2482850" cy="2655570"/>
          </a:xfrm>
          <a:prstGeom prst="roundRect">
            <a:avLst>
              <a:gd name="adj" fmla="val 6010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9080" y="2565400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8742B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49080" y="3307080"/>
            <a:ext cx="203017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Redeem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9080" y="3713480"/>
            <a:ext cx="203017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Points buy a reward. The customer gets a voucher code to show at your store.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What your customers see</a:t>
            </a:r>
            <a:endParaRPr lang="en-US" sz="3200" dirty="0"/>
          </a:p>
        </p:txBody>
      </p:sp>
      <p:pic>
        <p:nvPicPr>
          <p:cNvPr id="3" name="Image 0" descr="Scan result showing +10 points pending"/>
          <p:cNvPicPr>
            <a:picLocks noChangeAspect="1"/>
          </p:cNvPicPr>
          <p:nvPr/>
        </p:nvPicPr>
        <p:blipFill>
          <a:blip r:embed="rId3"/>
          <a:srcRect l="-26" r="-26"/>
          <a:stretch/>
        </p:blipFill>
        <p:spPr>
          <a:xfrm>
            <a:off x="1098550" y="1534161"/>
            <a:ext cx="1714500" cy="3708400"/>
          </a:xfrm>
          <a:prstGeom prst="roundRect">
            <a:avLst>
              <a:gd name="adj" fmla="val 8889"/>
            </a:avLst>
          </a:prstGeom>
          <a:effectLst>
            <a:outerShdw blurRad="203200" dist="76200" dir="5400000" algn="bl" rotWithShape="0">
              <a:srgbClr val="4A2412">
                <a:alpha val="2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469390" y="5344161"/>
            <a:ext cx="97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Scan result</a:t>
            </a:r>
            <a:endParaRPr lang="en-US" sz="1400" dirty="0"/>
          </a:p>
        </p:txBody>
      </p:sp>
      <p:pic>
        <p:nvPicPr>
          <p:cNvPr id="5" name="Image 1" descr="Points home with balance ring and activ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141" y="1534161"/>
            <a:ext cx="1693532" cy="3708400"/>
          </a:xfrm>
          <a:custGeom>
            <a:avLst/>
            <a:gdLst/>
            <a:ahLst/>
            <a:cxnLst/>
            <a:rect l="l" t="t" r="r" b="b"/>
            <a:pathLst>
              <a:path w="1693532" h="3708400">
                <a:moveTo>
                  <a:pt x="0" y="96851"/>
                </a:moveTo>
                <a:arcTo wR="152400" hR="152400" stAng="12082583" swAng="4117417"/>
                <a:lnTo>
                  <a:pt x="1551616" y="0"/>
                </a:lnTo>
                <a:arcTo wR="152400" hR="152400" stAng="16200000" swAng="4117417"/>
                <a:lnTo>
                  <a:pt x="1693532" y="3611549"/>
                </a:lnTo>
                <a:arcTo wR="152400" hR="152400" stAng="1282583" swAng="4117417"/>
                <a:lnTo>
                  <a:pt x="141916" y="3708400"/>
                </a:lnTo>
                <a:arcTo wR="152400" hR="152400" stAng="5400000" swAng="4117417"/>
                <a:close/>
              </a:path>
            </a:pathLst>
          </a:custGeom>
          <a:effectLst>
            <a:outerShdw blurRad="203200" dist="76200" dir="5400000" algn="bl" rotWithShape="0">
              <a:srgbClr val="4A2412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285774" y="5344161"/>
            <a:ext cx="860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My points</a:t>
            </a:r>
            <a:endParaRPr lang="en-US" sz="1400" dirty="0"/>
          </a:p>
        </p:txBody>
      </p:sp>
      <p:pic>
        <p:nvPicPr>
          <p:cNvPr id="7" name="Image 2" descr="Rewards catalogue"/>
          <p:cNvPicPr>
            <a:picLocks noChangeAspect="1"/>
          </p:cNvPicPr>
          <p:nvPr/>
        </p:nvPicPr>
        <p:blipFill>
          <a:blip r:embed="rId5"/>
          <a:srcRect l="-26" r="-26"/>
          <a:stretch/>
        </p:blipFill>
        <p:spPr>
          <a:xfrm>
            <a:off x="6618843" y="1534161"/>
            <a:ext cx="1714500" cy="3708400"/>
          </a:xfrm>
          <a:prstGeom prst="roundRect">
            <a:avLst>
              <a:gd name="adj" fmla="val 8889"/>
            </a:avLst>
          </a:prstGeom>
          <a:effectLst>
            <a:outerShdw blurRad="203200" dist="76200" dir="5400000" algn="bl" rotWithShape="0">
              <a:srgbClr val="4A2412">
                <a:alpha val="25000"/>
              </a:srgbClr>
            </a:outerShdw>
          </a:effectLst>
        </p:spPr>
      </p:pic>
      <p:sp>
        <p:nvSpPr>
          <p:cNvPr id="8" name="Text 3"/>
          <p:cNvSpPr/>
          <p:nvPr/>
        </p:nvSpPr>
        <p:spPr>
          <a:xfrm>
            <a:off x="7088902" y="5344161"/>
            <a:ext cx="774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Rewards</a:t>
            </a:r>
            <a:endParaRPr lang="en-US" sz="1400" dirty="0"/>
          </a:p>
        </p:txBody>
      </p:sp>
      <p:pic>
        <p:nvPicPr>
          <p:cNvPr id="9" name="Image 3" descr="Voucher code issued"/>
          <p:cNvPicPr>
            <a:picLocks noChangeAspect="1"/>
          </p:cNvPicPr>
          <p:nvPr/>
        </p:nvPicPr>
        <p:blipFill>
          <a:blip r:embed="rId6"/>
          <a:srcRect l="-26" r="-26"/>
          <a:stretch/>
        </p:blipFill>
        <p:spPr>
          <a:xfrm>
            <a:off x="9378950" y="1534161"/>
            <a:ext cx="1714500" cy="3708400"/>
          </a:xfrm>
          <a:prstGeom prst="roundRect">
            <a:avLst>
              <a:gd name="adj" fmla="val 8889"/>
            </a:avLst>
          </a:prstGeom>
          <a:effectLst>
            <a:outerShdw blurRad="203200" dist="76200" dir="5400000" algn="bl" rotWithShape="0">
              <a:srgbClr val="4A2412">
                <a:alpha val="25000"/>
              </a:srgbClr>
            </a:outerShdw>
          </a:effectLst>
        </p:spPr>
      </p:pic>
      <p:sp>
        <p:nvSpPr>
          <p:cNvPr id="10" name="Text 4"/>
          <p:cNvSpPr/>
          <p:nvPr/>
        </p:nvSpPr>
        <p:spPr>
          <a:xfrm>
            <a:off x="9655493" y="5344161"/>
            <a:ext cx="116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Voucher code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41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RULES, BY DEFAULT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817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Five numbers run the programme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223770"/>
            <a:ext cx="1991360" cy="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392680"/>
            <a:ext cx="2051101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12800" y="3139441"/>
            <a:ext cx="2051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points per scan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56560" y="2223770"/>
            <a:ext cx="1991360" cy="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6560" y="2392680"/>
            <a:ext cx="2051101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10</a:t>
            </a:r>
            <a:r>
              <a:rPr lang="en-US" sz="4800" b="1" dirty="0">
                <a:solidFill>
                  <a:srgbClr val="9A541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 min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956560" y="3810000"/>
            <a:ext cx="205110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wait after a scan that earned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00320" y="2223770"/>
            <a:ext cx="1991360" cy="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0320" y="2392680"/>
            <a:ext cx="2051101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100320" y="3139441"/>
            <a:ext cx="205110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earning scans a day (India time)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44080" y="2223770"/>
            <a:ext cx="1991360" cy="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4080" y="2392680"/>
            <a:ext cx="2051101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60</a:t>
            </a:r>
            <a:r>
              <a:rPr lang="en-US" sz="4800" b="1" dirty="0">
                <a:solidFill>
                  <a:srgbClr val="9A541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 d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244080" y="3139441"/>
            <a:ext cx="2051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points expire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87840" y="2223770"/>
            <a:ext cx="1991360" cy="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7840" y="2392680"/>
            <a:ext cx="2051101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30</a:t>
            </a:r>
            <a:r>
              <a:rPr lang="en-US" sz="4800" b="1" dirty="0">
                <a:solidFill>
                  <a:srgbClr val="9A5418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 d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387840" y="3139441"/>
            <a:ext cx="2051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voucher validity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663441"/>
            <a:ext cx="10566400" cy="873760"/>
          </a:xfrm>
          <a:prstGeom prst="roundRect">
            <a:avLst>
              <a:gd name="adj" fmla="val 11628"/>
            </a:avLst>
          </a:prstGeom>
          <a:solidFill>
            <a:srgbClr val="F3E6D3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815841"/>
            <a:ext cx="1046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 can change every one of these in </a:t>
            </a:r>
            <a:r>
              <a:rPr lang="en-US" sz="1600" b="1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Settings</a:t>
            </a: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Changes apply to future scans and vouchers only, never to the past.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20239"/>
            <a:ext cx="52324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Scans that earn nothing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641600"/>
            <a:ext cx="523240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Scanning again </a:t>
            </a:r>
            <a:r>
              <a:rPr lang="en-US" sz="1600" b="1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within 10 minutes</a:t>
            </a: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or </a:t>
            </a:r>
            <a:r>
              <a:rPr lang="en-US" sz="1600" b="1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more than 5 times a day</a:t>
            </a: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is recorded but earns no points. The customer sees a friendly message.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3749039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refused scan does not restart the 10-minute wait.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287521"/>
            <a:ext cx="523240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Refused scans do not appear in the points ledger. If a customer says "I scanned but got nothing", this is almost always why.</a:t>
            </a:r>
            <a:endParaRPr lang="en-US" sz="1600" dirty="0"/>
          </a:p>
        </p:txBody>
      </p:sp>
      <p:pic>
        <p:nvPicPr>
          <p:cNvPr id="6" name="Image 0" descr="Scanned recently: wait message"/>
          <p:cNvPicPr>
            <a:picLocks noChangeAspect="1"/>
          </p:cNvPicPr>
          <p:nvPr/>
        </p:nvPicPr>
        <p:blipFill>
          <a:blip r:embed="rId3"/>
          <a:srcRect t="-59" b="-59"/>
          <a:stretch/>
        </p:blipFill>
        <p:spPr>
          <a:xfrm>
            <a:off x="6807200" y="1466850"/>
            <a:ext cx="1905000" cy="4127500"/>
          </a:xfrm>
          <a:prstGeom prst="roundRect">
            <a:avLst>
              <a:gd name="adj" fmla="val 8000"/>
            </a:avLst>
          </a:prstGeom>
          <a:effectLst>
            <a:outerShdw blurRad="203200" dist="76200" dir="5400000" algn="bl" rotWithShape="0">
              <a:srgbClr val="4A2412">
                <a:alpha val="25000"/>
              </a:srgbClr>
            </a:outerShdw>
          </a:effectLst>
        </p:spPr>
      </p:pic>
      <p:pic>
        <p:nvPicPr>
          <p:cNvPr id="7" name="Image 1" descr="Daily limit reached message"/>
          <p:cNvPicPr>
            <a:picLocks noChangeAspect="1"/>
          </p:cNvPicPr>
          <p:nvPr/>
        </p:nvPicPr>
        <p:blipFill>
          <a:blip r:embed="rId4"/>
          <a:srcRect t="-59" b="-59"/>
          <a:stretch/>
        </p:blipFill>
        <p:spPr>
          <a:xfrm>
            <a:off x="8966200" y="1466850"/>
            <a:ext cx="1905000" cy="4127500"/>
          </a:xfrm>
          <a:prstGeom prst="roundRect">
            <a:avLst>
              <a:gd name="adj" fmla="val 8000"/>
            </a:avLst>
          </a:prstGeom>
          <a:effectLst>
            <a:outerShdw blurRad="203200" dist="76200" dir="5400000" algn="bl" rotWithShape="0">
              <a:srgbClr val="4A2412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54761"/>
            <a:ext cx="47091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541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ADMIN PANEL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671321"/>
            <a:ext cx="470916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One login, five screens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52042"/>
          <a:ext cx="4561840" cy="2550160"/>
        </p:xfrm>
        <a:graphic>
          <a:graphicData uri="http://schemas.openxmlformats.org/drawingml/2006/table">
            <a:tbl>
              <a:tblPr/>
              <a:tblGrid>
                <a:gridCol w="1733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Screen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What you do there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Users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Find a customer, see balance, adjust points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Redemptions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Fulfil or cancel vouchers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Ledger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Every point movement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Rewards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Catalogue, cost, stock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Settings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Branding, categories, rules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05400"/>
            <a:ext cx="470916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change is recorded with your name, the time and your reason.</a:t>
            </a:r>
            <a:endParaRPr lang="en-US" sz="1400" dirty="0"/>
          </a:p>
        </p:txBody>
      </p:sp>
      <p:pic>
        <p:nvPicPr>
          <p:cNvPr id="6" name="Image 0" descr="Admin sign-in screen"/>
          <p:cNvPicPr>
            <a:picLocks noChangeAspect="1"/>
          </p:cNvPicPr>
          <p:nvPr/>
        </p:nvPicPr>
        <p:blipFill>
          <a:blip r:embed="rId3"/>
          <a:srcRect l="-68" r="-68"/>
          <a:stretch/>
        </p:blipFill>
        <p:spPr>
          <a:xfrm>
            <a:off x="5797550" y="1689100"/>
            <a:ext cx="5575300" cy="3479800"/>
          </a:xfrm>
          <a:prstGeom prst="roundRect">
            <a:avLst>
              <a:gd name="adj" fmla="val 2737"/>
            </a:avLst>
          </a:prstGeom>
          <a:effectLst>
            <a:outerShdw blurRad="203200" dist="76200" dir="5400000" algn="bl" rotWithShape="0">
              <a:srgbClr val="4A2412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794375" y="1685925"/>
            <a:ext cx="5581650" cy="3486150"/>
          </a:xfrm>
          <a:prstGeom prst="roundRect">
            <a:avLst>
              <a:gd name="adj" fmla="val 2823"/>
            </a:avLst>
          </a:prstGeom>
          <a:noFill/>
          <a:ln w="6350">
            <a:solidFill>
              <a:srgbClr val="E6D3B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3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Users and point adjustments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95072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Search by any part of a phone number or name. Open a customer to see balance, ledger and vouchers.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687321"/>
            <a:ext cx="5080000" cy="2011680"/>
          </a:xfrm>
          <a:prstGeom prst="roundRect">
            <a:avLst>
              <a:gd name="adj" fmla="val 5051"/>
            </a:avLst>
          </a:prstGeom>
          <a:solidFill>
            <a:srgbClr val="F3E6D3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890521"/>
            <a:ext cx="48138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Adjust points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16000" y="3251200"/>
            <a:ext cx="4813808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Positive number adds, negative removes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reason is required (3–200 characters)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Added points expire like any other: 60 days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Removing takes the oldest points first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balance cannot go below zero</a:t>
            </a:r>
            <a:endParaRPr lang="en-US" sz="1400" dirty="0"/>
          </a:p>
        </p:txBody>
      </p:sp>
      <p:pic>
        <p:nvPicPr>
          <p:cNvPr id="7" name="Image 0" descr="User detail with balance, adjustment form, ledger and vouchers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6305550" y="819150"/>
            <a:ext cx="5067300" cy="4521200"/>
          </a:xfrm>
          <a:prstGeom prst="roundRect">
            <a:avLst>
              <a:gd name="adj" fmla="val 2107"/>
            </a:avLst>
          </a:prstGeom>
          <a:effectLst>
            <a:outerShdw blurRad="203200" dist="76200" dir="5400000" algn="bl" rotWithShape="0">
              <a:srgbClr val="4A2412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6302375" y="815975"/>
            <a:ext cx="5073650" cy="4527550"/>
          </a:xfrm>
          <a:prstGeom prst="roundRect">
            <a:avLst>
              <a:gd name="adj" fmla="val 2174"/>
            </a:avLst>
          </a:prstGeom>
          <a:noFill/>
          <a:ln w="6350">
            <a:solidFill>
              <a:srgbClr val="E6D3B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At the counter: fulfil or cancel</a:t>
            </a:r>
            <a:endParaRPr lang="en-US" sz="3200" dirty="0"/>
          </a:p>
        </p:txBody>
      </p:sp>
      <p:pic>
        <p:nvPicPr>
          <p:cNvPr id="3" name="Image 0" descr="Fulfil voucher dialog"/>
          <p:cNvPicPr>
            <a:picLocks noChangeAspect="1"/>
          </p:cNvPicPr>
          <p:nvPr/>
        </p:nvPicPr>
        <p:blipFill>
          <a:blip r:embed="rId3"/>
          <a:srcRect t="10102" b="10102"/>
          <a:stretch/>
        </p:blipFill>
        <p:spPr>
          <a:xfrm>
            <a:off x="819150" y="1591311"/>
            <a:ext cx="4965700" cy="2476500"/>
          </a:xfrm>
          <a:prstGeom prst="roundRect">
            <a:avLst>
              <a:gd name="adj" fmla="val 3846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588136"/>
            <a:ext cx="4972050" cy="2482850"/>
          </a:xfrm>
          <a:prstGeom prst="roundRect">
            <a:avLst>
              <a:gd name="adj" fmla="val 3964"/>
            </a:avLst>
          </a:prstGeom>
          <a:noFill/>
          <a:ln w="6350">
            <a:solidFill>
              <a:srgbClr val="E6D3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2800" y="4226564"/>
            <a:ext cx="52847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Fulfil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800" y="4683764"/>
            <a:ext cx="528472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customer shows the code and receives the reward. Open </a:t>
            </a:r>
            <a:r>
              <a:rPr lang="en-US" sz="1500" b="1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Redemptions → Issued</a:t>
            </a:r>
            <a:r>
              <a:rPr lang="en-US" sz="15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and fulfil it. </a:t>
            </a:r>
            <a:r>
              <a:rPr lang="en-US" sz="1500" b="1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Final</a:t>
            </a:r>
            <a:r>
              <a:rPr lang="en-US" sz="15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cannot be undone.</a:t>
            </a:r>
            <a:endParaRPr lang="en-US" sz="1500" dirty="0"/>
          </a:p>
        </p:txBody>
      </p:sp>
      <p:pic>
        <p:nvPicPr>
          <p:cNvPr id="7" name="Image 1" descr="Cancel voucher dialog with reason"/>
          <p:cNvPicPr>
            <a:picLocks noChangeAspect="1"/>
          </p:cNvPicPr>
          <p:nvPr/>
        </p:nvPicPr>
        <p:blipFill>
          <a:blip r:embed="rId4"/>
          <a:srcRect t="10102" b="10102"/>
          <a:stretch/>
        </p:blipFill>
        <p:spPr>
          <a:xfrm>
            <a:off x="6254750" y="1591311"/>
            <a:ext cx="4965700" cy="2476500"/>
          </a:xfrm>
          <a:prstGeom prst="roundRect">
            <a:avLst>
              <a:gd name="adj" fmla="val 3846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51575" y="1588136"/>
            <a:ext cx="4972050" cy="2482850"/>
          </a:xfrm>
          <a:prstGeom prst="roundRect">
            <a:avLst>
              <a:gd name="adj" fmla="val 3964"/>
            </a:avLst>
          </a:prstGeom>
          <a:noFill/>
          <a:ln w="6350">
            <a:solidFill>
              <a:srgbClr val="E6D3B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4226564"/>
            <a:ext cx="52847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Cancel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248400" y="4683764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reward cannot be given. Needs a reason. Points go back as a new batch valid 60 days; stock goes up by 1.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87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370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160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HOW POINTS ARE CALCULATED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90800"/>
            <a:ext cx="1046480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2E160A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Balance = unspent points that have not expired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180842"/>
            <a:ext cx="98107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E160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batch of points keeps its own expiry date. Spending uses the oldest points first. Nothing stores a balance: it is always worked out from the ledger, so it can never drift.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Worked example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44324"/>
          <a:ext cx="10556240" cy="1917700"/>
        </p:xfrm>
        <a:graphic>
          <a:graphicData uri="http://schemas.openxmlformats.org/drawingml/2006/table">
            <a:tbl>
              <a:tblPr/>
              <a:tblGrid>
                <a:gridCol w="1477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9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Date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Ledger line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Expires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Left on this batch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 Jan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scan +10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 Mar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 → 0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 Jan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scan +10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 Mar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 → 5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 Jan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adjust +20 (goodwill)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 Mar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 Feb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redeem −15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—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takes 10 from 1 Jan, 5 from 5 Jan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31850" y="3716021"/>
            <a:ext cx="0" cy="63246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760" y="3766821"/>
            <a:ext cx="3137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Feb: balance 25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0760" y="4066542"/>
            <a:ext cx="31376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 + 5 + 20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21664" y="3716021"/>
            <a:ext cx="0" cy="63246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90574" y="3766821"/>
            <a:ext cx="31377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 Mar: balance 20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90574" y="4066542"/>
            <a:ext cx="313772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5 left from 5 Jan expire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11557" y="3716021"/>
            <a:ext cx="0" cy="632460"/>
          </a:xfrm>
          <a:prstGeom prst="line">
            <a:avLst/>
          </a:prstGeom>
          <a:noFill/>
          <a:ln w="38100">
            <a:solidFill>
              <a:srgbClr val="C874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0467" y="3766821"/>
            <a:ext cx="31377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Cancel on 10 Feb: 40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80467" y="4066542"/>
            <a:ext cx="313772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refund +15, new expiry 11 Apr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2788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Settings apply from now 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3524"/>
          <a:ext cx="6085840" cy="2729230"/>
        </p:xfrm>
        <a:graphic>
          <a:graphicData uri="http://schemas.openxmlformats.org/drawingml/2006/table">
            <a:tbl>
              <a:tblPr/>
              <a:tblGrid>
                <a:gridCol w="2434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You change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5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What happens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5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Points per scan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New scans only. Pending points keep their value.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Points expiry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New batches only; old ones keep their date.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Voucher validity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New vouchers only.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Cooldown, daily cap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From the next scan.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Categories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New sign-ups. Keep at least one.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Name, logo, colours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Immediately in the app.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Image 0" descr="Settings editor"/>
          <p:cNvPicPr>
            <a:picLocks noChangeAspect="1"/>
          </p:cNvPicPr>
          <p:nvPr/>
        </p:nvPicPr>
        <p:blipFill>
          <a:blip r:embed="rId3"/>
          <a:srcRect t="8198" b="8198"/>
          <a:stretch/>
        </p:blipFill>
        <p:spPr>
          <a:xfrm>
            <a:off x="7321550" y="819150"/>
            <a:ext cx="4051300" cy="4813300"/>
          </a:xfrm>
          <a:prstGeom prst="roundRect">
            <a:avLst>
              <a:gd name="adj" fmla="val 2351"/>
            </a:avLst>
          </a:prstGeom>
          <a:effectLst>
            <a:outerShdw blurRad="203200" dist="76200" dir="5400000" algn="bl" rotWithShape="0">
              <a:srgbClr val="4A2412">
                <a:alpha val="18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7318375" y="815975"/>
            <a:ext cx="4057650" cy="4819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E6D3B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"Where are my points?"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44324"/>
          <a:ext cx="10556240" cy="2221230"/>
        </p:xfrm>
        <a:graphic>
          <a:graphicData uri="http://schemas.openxmlformats.org/drawingml/2006/table">
            <a:tbl>
              <a:tblPr/>
              <a:tblGrid>
                <a:gridCol w="316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customer says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Likely cause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1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 scanned but got nothing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Within 10 minutes of the last earning scan, or over 5 that day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My pending points didn't come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Verified on a different phone, pending older than 30 days, or that day's limit already reached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My balance dropped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Points expired after 60 days, or an adjustment (check the ledger)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My voucher doesn't work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Expired after 30 days, or already fulfilled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 have two accounts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3E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Two phone numbers are two accounts: move points with adjustments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Vouchers: what is final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84964"/>
            <a:ext cx="2527300" cy="1579880"/>
          </a:xfrm>
          <a:prstGeom prst="roundRect">
            <a:avLst>
              <a:gd name="adj" fmla="val 8039"/>
            </a:avLst>
          </a:prstGeom>
          <a:solidFill>
            <a:srgbClr val="FFFBF4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84964"/>
            <a:ext cx="2527300" cy="1579880"/>
          </a:xfrm>
          <a:custGeom>
            <a:avLst/>
            <a:gdLst/>
            <a:ahLst/>
            <a:cxnLst/>
            <a:rect l="l" t="t" r="r" b="b"/>
            <a:pathLst>
              <a:path w="2527300" h="157988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C8742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64"/>
            <a:ext cx="21845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Issued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2214879"/>
            <a:ext cx="218452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Waiting at the counter. The only status you can change.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2500" y="1584964"/>
            <a:ext cx="2527300" cy="1579880"/>
          </a:xfrm>
          <a:prstGeom prst="roundRect">
            <a:avLst>
              <a:gd name="adj" fmla="val 8039"/>
            </a:avLst>
          </a:prstGeom>
          <a:solidFill>
            <a:srgbClr val="FFFBF4"/>
          </a:solidFill>
          <a:ln/>
        </p:spPr>
      </p:sp>
      <p:sp>
        <p:nvSpPr>
          <p:cNvPr id="8" name="Shape 6"/>
          <p:cNvSpPr/>
          <p:nvPr/>
        </p:nvSpPr>
        <p:spPr>
          <a:xfrm>
            <a:off x="3492500" y="1584964"/>
            <a:ext cx="2527300" cy="1579880"/>
          </a:xfrm>
          <a:custGeom>
            <a:avLst/>
            <a:gdLst/>
            <a:ahLst/>
            <a:cxnLst/>
            <a:rect l="l" t="t" r="r" b="b"/>
            <a:pathLst>
              <a:path w="2527300" h="157988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4A2412"/>
          </a:solidFill>
          <a:ln/>
        </p:spPr>
      </p:sp>
      <p:sp>
        <p:nvSpPr>
          <p:cNvPr id="9" name="Text 7"/>
          <p:cNvSpPr/>
          <p:nvPr/>
        </p:nvSpPr>
        <p:spPr>
          <a:xfrm>
            <a:off x="3695700" y="1838964"/>
            <a:ext cx="21845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Fulfilled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95700" y="2214879"/>
            <a:ext cx="218452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Final. Mistake? Add the points back with an adjustment.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84964"/>
            <a:ext cx="2527300" cy="1579880"/>
          </a:xfrm>
          <a:prstGeom prst="roundRect">
            <a:avLst>
              <a:gd name="adj" fmla="val 8039"/>
            </a:avLst>
          </a:prstGeom>
          <a:solidFill>
            <a:srgbClr val="FFFB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584964"/>
            <a:ext cx="2527300" cy="1579880"/>
          </a:xfrm>
          <a:custGeom>
            <a:avLst/>
            <a:gdLst/>
            <a:ahLst/>
            <a:cxnLst/>
            <a:rect l="l" t="t" r="r" b="b"/>
            <a:pathLst>
              <a:path w="2527300" h="157988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4A241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400" y="1838964"/>
            <a:ext cx="21845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Cancelled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5400" y="2214879"/>
            <a:ext cx="218452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Final. Points were refunded as a new 60-day batch.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1900" y="1584964"/>
            <a:ext cx="2527300" cy="1579880"/>
          </a:xfrm>
          <a:prstGeom prst="roundRect">
            <a:avLst>
              <a:gd name="adj" fmla="val 8039"/>
            </a:avLst>
          </a:prstGeom>
          <a:solidFill>
            <a:srgbClr val="FFFB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1900" y="1584964"/>
            <a:ext cx="2527300" cy="1579880"/>
          </a:xfrm>
          <a:custGeom>
            <a:avLst/>
            <a:gdLst/>
            <a:ahLst/>
            <a:cxnLst/>
            <a:rect l="l" t="t" r="r" b="b"/>
            <a:pathLst>
              <a:path w="2527300" h="157988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4A2412"/>
          </a:solidFill>
          <a:ln/>
        </p:spPr>
      </p:sp>
      <p:sp>
        <p:nvSpPr>
          <p:cNvPr id="17" name="Text 15"/>
          <p:cNvSpPr/>
          <p:nvPr/>
        </p:nvSpPr>
        <p:spPr>
          <a:xfrm>
            <a:off x="9055100" y="1838964"/>
            <a:ext cx="21845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Expired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5100" y="2214879"/>
            <a:ext cx="218452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Final, no refund. Goodwill goes through an adjustment.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469642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double tap on Redeem is still one redemption. Deactivating or restocking a reward does not affect vouchers already issued.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4A2412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Your routine and getting help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9"/>
            <a:ext cx="3380264" cy="1908810"/>
          </a:xfrm>
          <a:prstGeom prst="roundRect">
            <a:avLst>
              <a:gd name="adj" fmla="val 6487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44042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245364"/>
            <a:ext cx="295450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Fulfil vouchers as rewards are handed over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Cancel any you cannot honour, with a reason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588139"/>
            <a:ext cx="3380343" cy="1908810"/>
          </a:xfrm>
          <a:prstGeom prst="roundRect">
            <a:avLst>
              <a:gd name="adj" fmla="val 6487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844042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week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245364"/>
            <a:ext cx="2954589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 reward stock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Look at old Issued vouchers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Answer customer queries from the ledger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588139"/>
            <a:ext cx="3380343" cy="1908810"/>
          </a:xfrm>
          <a:prstGeom prst="roundRect">
            <a:avLst>
              <a:gd name="adj" fmla="val 6487"/>
            </a:avLst>
          </a:prstGeom>
          <a:solidFill>
            <a:srgbClr val="FFFBF4"/>
          </a:solidFill>
          <a:ln w="6350">
            <a:solidFill>
              <a:srgbClr val="E6D3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844042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2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Ask the platform owner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245364"/>
            <a:ext cx="2954589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Locked out (or wait 15 min)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Forgotten password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admin logins</a:t>
            </a:r>
            <a:endParaRPr lang="en-US" sz="1400" dirty="0"/>
          </a:p>
          <a:p>
            <a:pPr marL="213360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SMS settings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8049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3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 not share your login. Every action is recorded under your name.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2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A2412"/>
              </a:gs>
              <a:gs pos="100000">
                <a:srgbClr val="6B3A1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864364"/>
            <a:ext cx="10883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BF3E6"/>
                </a:solidFill>
                <a:latin typeface="Domine" pitchFamily="34" charset="0"/>
                <a:ea typeface="Domine" pitchFamily="34" charset="-122"/>
                <a:cs typeface="Domine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870200"/>
            <a:ext cx="10883392" cy="1488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E9D2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customer scans, verifies and earns</a:t>
            </a:r>
            <a:endParaRPr lang="en-US" sz="1800" dirty="0"/>
          </a:p>
          <a:p>
            <a:pPr marL="274320" indent="-274320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E9D2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Redeems a reward and gets a voucher</a:t>
            </a:r>
            <a:endParaRPr lang="en-US" sz="1800" dirty="0"/>
          </a:p>
          <a:p>
            <a:pPr marL="274320" indent="-274320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E9D2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 find the customer, fulfil the voucher, adjust points</a:t>
            </a:r>
            <a:endParaRPr lang="en-US" sz="1800" dirty="0"/>
          </a:p>
          <a:p>
            <a:pPr marL="274320" indent="-274320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E9D2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 change a setting and see it in the 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638042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9B27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Then your questions.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1713</Words>
  <Application>Microsoft Office PowerPoint</Application>
  <PresentationFormat>Widescreen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Domine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Loyalty Programme: Admin Walkthrough</dc:title>
  <dc:subject>PptxGenJS Presentation</dc:subject>
  <dc:creator>PptxGenJS</dc:creator>
  <cp:lastModifiedBy>contact@bluemins.life</cp:lastModifiedBy>
  <cp:revision>2</cp:revision>
  <dcterms:created xsi:type="dcterms:W3CDTF">2026-09-27T04:45:50Z</dcterms:created>
  <dcterms:modified xsi:type="dcterms:W3CDTF">2026-09-27T05:28:57Z</dcterms:modified>
</cp:coreProperties>
</file>